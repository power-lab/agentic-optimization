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6d97160ca44ed" /><Relationship Type="http://schemas.openxmlformats.org/officeDocument/2006/relationships/extended-properties" Target="/docProps/app.xml" Id="Rea6654b8525b434c" /><Relationship Type="http://schemas.openxmlformats.org/officeDocument/2006/relationships/officeDocument" Target="/ppt/presentation.xml" Id="Re0220a07f4f4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5cdf2ec2c4600"/>
  </p:sldMasterIdLst>
  <p:notesMasterIdLst>
    <p:notesMasterId xmlns:r="http://schemas.openxmlformats.org/officeDocument/2006/relationships" r:id="R331d6a9f60bd422e"/>
  </p:notesMasterIdLst>
  <p:sldIdLst>
    <p:sldId xmlns:r="http://schemas.openxmlformats.org/officeDocument/2006/relationships" id="256" r:id="R90eb15a0eead4789"/>
    <p:sldId xmlns:r="http://schemas.openxmlformats.org/officeDocument/2006/relationships" id="257" r:id="R4057e12039b44d89"/>
    <p:sldId xmlns:r="http://schemas.openxmlformats.org/officeDocument/2006/relationships" id="258" r:id="R00fc1a6de9024dd0"/>
    <p:sldId xmlns:r="http://schemas.openxmlformats.org/officeDocument/2006/relationships" id="259" r:id="R5840cf80356248cd"/>
    <p:sldId xmlns:r="http://schemas.openxmlformats.org/officeDocument/2006/relationships" id="260" r:id="R0c33541f0fe941bc"/>
    <p:sldId xmlns:r="http://schemas.openxmlformats.org/officeDocument/2006/relationships" id="261" r:id="Rac87735083a5470a"/>
    <p:sldId xmlns:r="http://schemas.openxmlformats.org/officeDocument/2006/relationships" id="262" r:id="R5ed5b4a9c2d245d5"/>
    <p:sldId xmlns:r="http://schemas.openxmlformats.org/officeDocument/2006/relationships" id="263" r:id="Rc08738c2179f4b86"/>
    <p:sldId xmlns:r="http://schemas.openxmlformats.org/officeDocument/2006/relationships" id="264" r:id="R9b2f4143233d44e6"/>
    <p:sldId xmlns:r="http://schemas.openxmlformats.org/officeDocument/2006/relationships" id="265" r:id="Rd12fac3f003d4d25"/>
    <p:sldId xmlns:r="http://schemas.openxmlformats.org/officeDocument/2006/relationships" id="266" r:id="Rac02a478d7f94732"/>
    <p:sldId xmlns:r="http://schemas.openxmlformats.org/officeDocument/2006/relationships" id="267" r:id="R90e846381d8442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9e42e255064d20" /><Relationship Type="http://schemas.openxmlformats.org/officeDocument/2006/relationships/slideMaster" Target="/ppt/slideMasters/slideMaster1.xml" Id="Rcd85cdf2ec2c4600" /><Relationship Type="http://schemas.openxmlformats.org/officeDocument/2006/relationships/notesMaster" Target="/ppt/notesMasters/notesMaster1.xml" Id="R331d6a9f60bd422e" /><Relationship Type="http://schemas.openxmlformats.org/officeDocument/2006/relationships/presProps" Target="/ppt/presProps.xml" Id="R87cdb26a40334ebe" /><Relationship Type="http://schemas.openxmlformats.org/officeDocument/2006/relationships/tableStyles" Target="/ppt/tableStyles.xml" Id="R8d3b776befbd4147" /><Relationship Type="http://schemas.openxmlformats.org/officeDocument/2006/relationships/slide" Target="/ppt/slides/slide1.xml" Id="R90eb15a0eead4789" /><Relationship Type="http://schemas.openxmlformats.org/officeDocument/2006/relationships/slide" Target="/ppt/slides/slide2.xml" Id="R4057e12039b44d89" /><Relationship Type="http://schemas.openxmlformats.org/officeDocument/2006/relationships/slide" Target="/ppt/slides/slide3.xml" Id="R00fc1a6de9024dd0" /><Relationship Type="http://schemas.openxmlformats.org/officeDocument/2006/relationships/slide" Target="/ppt/slides/slide4.xml" Id="R5840cf80356248cd" /><Relationship Type="http://schemas.openxmlformats.org/officeDocument/2006/relationships/slide" Target="/ppt/slides/slide5.xml" Id="R0c33541f0fe941bc" /><Relationship Type="http://schemas.openxmlformats.org/officeDocument/2006/relationships/slide" Target="/ppt/slides/slide6.xml" Id="Rac87735083a5470a" /><Relationship Type="http://schemas.openxmlformats.org/officeDocument/2006/relationships/slide" Target="/ppt/slides/slide7.xml" Id="R5ed5b4a9c2d245d5" /><Relationship Type="http://schemas.openxmlformats.org/officeDocument/2006/relationships/slide" Target="/ppt/slides/slide8.xml" Id="Rc08738c2179f4b86" /><Relationship Type="http://schemas.openxmlformats.org/officeDocument/2006/relationships/slide" Target="/ppt/slides/slide9.xml" Id="R9b2f4143233d44e6" /><Relationship Type="http://schemas.openxmlformats.org/officeDocument/2006/relationships/slide" Target="/ppt/slides/slide10.xml" Id="Rd12fac3f003d4d25" /><Relationship Type="http://schemas.openxmlformats.org/officeDocument/2006/relationships/slide" Target="/ppt/slides/slide11.xml" Id="Rac02a478d7f94732" /><Relationship Type="http://schemas.openxmlformats.org/officeDocument/2006/relationships/slide" Target="/ppt/slides/slide12.xml" Id="R90e846381d84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e86461583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d8e9f51ad4ed2" /><Relationship Type="http://schemas.openxmlformats.org/officeDocument/2006/relationships/notesMaster" Target="/ppt/notesMasters/notesMaster1.xml" Id="Re4d417291dfb41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4890096774d2c" /><Relationship Type="http://schemas.openxmlformats.org/officeDocument/2006/relationships/notesMaster" Target="/ppt/notesMasters/notesMaster1.xml" Id="Rc2c1b83ccc3146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83ac40c4647b9" /><Relationship Type="http://schemas.openxmlformats.org/officeDocument/2006/relationships/notesMaster" Target="/ppt/notesMasters/notesMaster1.xml" Id="R89e42f7a199c46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b8a99c3c80433b" /><Relationship Type="http://schemas.openxmlformats.org/officeDocument/2006/relationships/notesMaster" Target="/ppt/notesMasters/notesMaster1.xml" Id="R0a4ac653b0264e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76fb0e36514e9b" /><Relationship Type="http://schemas.openxmlformats.org/officeDocument/2006/relationships/notesMaster" Target="/ppt/notesMasters/notesMaster1.xml" Id="Rd1c316d7ab6543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0cb9b68e8b4267" /><Relationship Type="http://schemas.openxmlformats.org/officeDocument/2006/relationships/notesMaster" Target="/ppt/notesMasters/notesMaster1.xml" Id="Rb62bcb75d256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21f451ce694f41" /><Relationship Type="http://schemas.openxmlformats.org/officeDocument/2006/relationships/notesMaster" Target="/ppt/notesMasters/notesMaster1.xml" Id="Rb1541db15e6c45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21a10302924431" /><Relationship Type="http://schemas.openxmlformats.org/officeDocument/2006/relationships/notesMaster" Target="/ppt/notesMasters/notesMaster1.xml" Id="R1079f42f9732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26358db8ef4ed2" /><Relationship Type="http://schemas.openxmlformats.org/officeDocument/2006/relationships/notesMaster" Target="/ppt/notesMasters/notesMaster1.xml" Id="Rbdb640b2c6b8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d4ff92acbc4560" /><Relationship Type="http://schemas.openxmlformats.org/officeDocument/2006/relationships/notesMaster" Target="/ppt/notesMasters/notesMaster1.xml" Id="R35d3409ecfcd48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71dd5575da4349" /><Relationship Type="http://schemas.openxmlformats.org/officeDocument/2006/relationships/notesMaster" Target="/ppt/notesMasters/notesMaster1.xml" Id="Rab7f21db46c046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1105d28fa34a22" /><Relationship Type="http://schemas.openxmlformats.org/officeDocument/2006/relationships/notesMaster" Target="/ppt/notesMasters/notesMaster1.xml" Id="R51f96513de634e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65420221f4b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549bc0ba624f64" /><Relationship Type="http://schemas.openxmlformats.org/officeDocument/2006/relationships/slideLayout" Target="/ppt/slideLayouts/slideLayout1.xml" Id="R57c0112803ef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c0112803ef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53cad14234bc2" /><Relationship Type="http://schemas.openxmlformats.org/officeDocument/2006/relationships/notesSlide" Target="/ppt/notesSlides/notesSlide1.xml" Id="R28cf77eac033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cd9f09f504565" /><Relationship Type="http://schemas.openxmlformats.org/officeDocument/2006/relationships/notesSlide" Target="/ppt/notesSlides/notesSlide2.xml" Id="R2f89ea68e05f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75224f7e4eac" /><Relationship Type="http://schemas.openxmlformats.org/officeDocument/2006/relationships/notesSlide" Target="/ppt/notesSlides/notesSlide3.xml" Id="R3761690c076644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b1fd957d4317" /><Relationship Type="http://schemas.openxmlformats.org/officeDocument/2006/relationships/notesSlide" Target="/ppt/notesSlides/notesSlide4.xml" Id="R547b8f3ea8804b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8eee50b2b4fb9" /><Relationship Type="http://schemas.openxmlformats.org/officeDocument/2006/relationships/notesSlide" Target="/ppt/notesSlides/notesSlide5.xml" Id="Rf59a764dfe9b47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26f2a47a1420f" /><Relationship Type="http://schemas.openxmlformats.org/officeDocument/2006/relationships/notesSlide" Target="/ppt/notesSlides/notesSlide6.xml" Id="Rc7337e53466d46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498b3d0eb4696" /><Relationship Type="http://schemas.openxmlformats.org/officeDocument/2006/relationships/notesSlide" Target="/ppt/notesSlides/notesSlide7.xml" Id="Rdfed71a35cd64f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673bb44514999" /><Relationship Type="http://schemas.openxmlformats.org/officeDocument/2006/relationships/notesSlide" Target="/ppt/notesSlides/notesSlide8.xml" Id="R846913b77ccf4d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74b14d7b64c6a" /><Relationship Type="http://schemas.openxmlformats.org/officeDocument/2006/relationships/notesSlide" Target="/ppt/notesSlides/notesSlide9.xml" Id="Rd5d7df150b53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9cf5829ad4dc2" /><Relationship Type="http://schemas.openxmlformats.org/officeDocument/2006/relationships/notesSlide" Target="/ppt/notesSlides/notesSlide10.xml" Id="R3ee63e7c0b184d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f92dab7b040c9" /><Relationship Type="http://schemas.openxmlformats.org/officeDocument/2006/relationships/notesSlide" Target="/ppt/notesSlides/notesSlide11.xml" Id="R3670c5aa4eb046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422ded4ad49a7" /><Relationship Type="http://schemas.openxmlformats.org/officeDocument/2006/relationships/notesSlide" Target="/ppt/notesSlides/notesSlide12.xml" Id="Rb16e4656f0dd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E2807-ED26-4965-8331-3F05EFD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AI-Assisted Energy System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81256-2D22-4A97-9EED-1B78883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Progress update for Michael and research collaborators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10534-F266-4607-BFA8-E3EC33E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AI-ESM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4F9E7-DAA4-487B-8200-4CC8264D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Codex 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4A663-AFCF-46FC-B45F-696DAFE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6DF2A-4435-4E4C-9089-906010B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EFDE5-CABC-4E7B-9B06-ED6FA2D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9906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DC864-2E3A-401D-B151-94E6B5F8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Solver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07362-BE0F-43F1-AFED-A5C0E76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4C2EF-F1F1-4C16-8F56-016C3D6F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Refinement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1F1DC-C15D-4558-A374-D476E10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Layered agent workflow for repeatable scenario design, execution, analysis, and refinement.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BB5E8-2F44-426C-B5A0-89A4FB6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Progress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63CC5-12FF-4D2F-86A8-AB1D5B0C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4BFA9-25E7-43F2-A121-E55129B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878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E82B2-078A-4057-AE01-1AE13D9B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DISCUSSION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4821D-73A2-46CF-9219-95555DB5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A progress deck built around the working AI-ESM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687E-6E7D-487E-B647-2F7D06A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goal is to show scope, reusable skills, current app behavior, and what needs research/design decisions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957F6-0240-44C5-8F6E-855CB56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A9A76-A2BB-4E07-82D6-A1A5844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5CE44-F01E-47E0-8B99-CE9B7A2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6F323-A09D-443C-810C-0587A99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43363-CBD5-4976-99A0-76B9BD68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FA71E-95A5-4FD7-927D-EA5A977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Problem, goal, and architecture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2EFB8-68F0-4507-BABE-E57829E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2D1AF-8CC0-45EE-9BDD-AFA6178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7CF37-5203-4369-8891-51998D3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7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What skills encode and why they matter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AD43E-CE27-4776-A8B9-DDD48FD5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4457D-2506-4E52-93F5-BF0DD503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AI-ESM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6A9D5-FEB6-46E8-BA1D-EE0CD6C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How Codex uses the skills end to 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239EE-5A2E-4DED-9D64-6BFB1BF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BFC66-057E-4379-A5C3-BDD5438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App and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1FF64-4420-4611-A3CE-ECCBCBB0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Executable orchestration layer and usage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B4524-A2C9-43BF-BD6E-CBD2F8A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52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4798A-4BF2-43A7-97F3-5937D2B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AB525-D123-4E03-8619-D3EFDAB2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Limitations, open design choices, future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BE09F-A24D-42CA-A784-08F5C108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571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FF4F0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Positioning</a:t>
            </a:r>
          </a:p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This is a progress-and-demo presentation, not a theory-only talk.</a:t>
            </a:r>
          </a:p>
        </p:txBody>
      </p:sp>
    </p:spTree>
    <p:extLst>
      <p:ext uri="{BB962C8B-B14F-4D97-AF65-F5344CB8AC3E}">
        <p14:creationId xmlns:p14="http://schemas.microsoft.com/office/powerpoint/2010/main" val="948664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44A86-D8AB-411B-B478-F4C12D03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4FF90-0BEF-4BD2-92F1-1423F751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AI-ESM turns modeling iteration into a guided research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D0B19-E757-4EF3-8CB6-9D680F1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MVP focuses on repeatability around scenario validation, solver execution, diagnostics, refinement, and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9EC1B-434D-423D-B4F0-F977CED3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1F054-0973-484B-9D5D-AB6B91E3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72273-3C3A-4436-923B-464661B0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6592E-4AB6-47F8-9E4B-238D7E8D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EF"/>
          </a:solidFill>
          <a:ln xmlns:a="http://schemas.openxmlformats.org/drawingml/2006/main" w="9525">
            <a:solidFill>
              <a:srgbClr val="B84A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704F9-1BF8-48BC-AF0C-8A70917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Energy modeling iteration is manual, brittle, and hard to audit.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E538F-E6C0-4BAC-ADDF-9A1E71E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Project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46929-7939-4276-8644-6197FB91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Use Codex plus domain skills to make model iteration more systematic.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6AC26-D5DB-4DDA-9F6E-8CC06E6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Current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112D4-C596-4EB8-A833-5157652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Wraps a capacity expansion runner with validation, execution, analysis, safe reruns, and run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3ACB9-B7C5-408C-9D3F-5AD62E6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Boundary today: structural scenario edits, generator additions, demand changes, and policy relaxations remain recommendation-only until a broader patch approval workflow is added.</a:t>
            </a:r>
          </a:p>
        </p:txBody>
      </p:sp>
    </p:spTree>
    <p:extLst>
      <p:ext uri="{BB962C8B-B14F-4D97-AF65-F5344CB8AC3E}">
        <p14:creationId xmlns:p14="http://schemas.microsoft.com/office/powerpoint/2010/main" val="102605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7F881-B36D-4F1F-A137-F28930B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D45CA-4D42-483F-A3E4-E6005042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Layered design separates research intent from model execution mechanics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16CB0-D9D5-4E4B-9656-1864DC5D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Each layer has a clear contract, which makes the workflow easier to validate and extend.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4E799-BC93-4FD8-9C8F-9A719FDE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B7B3-7550-4BB7-A3CF-D9833B3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949EE-6B09-4014-9EBC-C13C89A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1237A-3D18-4320-8484-C9C626B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AC751-1BE4-403F-ACAA-B70B6C9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User goal, constraints, run budget, review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DEF8C-6C59-44DC-B323-AA3B6EC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Codex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0D743-8478-4F7B-B3EC-5B75DAB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Skill selection, file edits, tool calls, run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259F0-22CF-478B-95E2-A4A8405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29C8B"/>
          </a:solidFill>
          <a:ln xmlns:a="http://schemas.openxmlformats.org/drawingml/2006/main" w="9525">
            <a:solidFill>
              <a:srgbClr val="229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 skills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498C3-65BD-4134-8DC8-102846DB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Scenario builder, executor, log analyzer, output analyzer, refiner,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02A1B-F4A3-41BD-895D-5A24A93E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Executable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1C96A-5ED4-40E0-B2CC-7C7A40D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agent/orchestrator.py plus validation, analysis, patching, memory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106F3-3A46-4B6E-B085-6BB1CA6E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B73"/>
          </a:solidFill>
          <a:ln xmlns:a="http://schemas.openxmlformats.org/drawingml/2006/main" w="9525">
            <a:solidFill>
              <a:srgbClr val="5D6B7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9C0A1-A2E0-4E07-ADE8-1A6865B2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72050"/>
            <a:ext cx="723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YAML configs, solver logs, CSV outputs, run_state.json, run_history.jsonl</a:t>
            </a:r>
          </a:p>
        </p:txBody>
      </p:sp>
    </p:spTree>
    <p:extLst>
      <p:ext uri="{BB962C8B-B14F-4D97-AF65-F5344CB8AC3E}">
        <p14:creationId xmlns:p14="http://schemas.microsoft.com/office/powerpoint/2010/main" val="1543580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C682D-CD01-4E79-BF28-29356766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EXECUTABLE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FC91-8392-4988-AAA8-D2ECE7B8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current orchestration layer is deterministic and stateful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71D4A-23C7-48F1-B99B-FDFCC74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agent records controller decisions and outputs into a stable run-state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8B082-44E6-4735-8F24-D18A3BE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5CA6F-BB94-4554-AF90-058E8EA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97CA9-E6A9-4D24-B2D1-250D3DE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10D7A-5A84-44CF-8806-55CE8FC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92E63-C8AE-474D-8471-F06F636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4ACB9-3A44-4B50-8C33-36C5BE6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LAUNCH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0ED0A-CA98-4FB8-AA4D-9644C1C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82113-95E8-4A7E-A4E3-33A4BD5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SOLVER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2A8F0-8963-42A9-933B-0BD86064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0629D-65F6-488D-85BB-60A6E123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ANALYZE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EA496-8CAE-46D2-B879-B1D0DB2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16CCC-93F5-4711-BE54-CA4BC89F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TRIGGER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46C41-E3D5-4C38-BF50-092419E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2E212-8F73-41F5-A081-B19FC763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 PATCH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RERUN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C9A44-DF13-47F1-93D6-8CFBBDD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012CE-CCA6-41AD-943B-64FCD1A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APPEND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84F3A-08F9-4C42-9322-BFE55E71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5784B-D1BE-490D-8108-01C90BC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Run state: controller decisions, validation results, executor logs, solver diagnostics, output checks, refinement, patches, memory summary.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5CF67-B033-4D8B-A144-3391FE09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9A"/>
          </a:solidFill>
          <a:ln xmlns:a="http://schemas.openxmlformats.org/drawingml/2006/main" w="0">
            <a:solidFill>
              <a:srgbClr val="2D5B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8EA77-18B7-43F7-85DE-3F34F96D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Safe reruns are deliberately narrow: only selected solver_settings are patched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846172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A2D91-3834-4BD9-A782-70EFD2C5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AGENT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35F89-A421-435B-9FAF-B71E8D8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Skills make Codex behavior reusable, domain-aware,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353C1-E293-4954-823F-28A556E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 skill is not just a prompt. It is an operating procedure with inputs, outputs, checks, and failure modes.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CD4C6-A55F-48E5-97D4-1990C876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31149-A970-4398-B7D5-5C40A928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EC631-38C2-4081-AD3C-41111A58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3BDB4-81C3-416D-BC04-693E9325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14373-9214-4433-B7DD-F37E082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Task-specific instructions, schemas, heuristics, references, scripts, and example assets.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340B2-03A1-4458-A819-EE40546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92C23-228D-42EA-8A90-CE7D28C9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Codex reads the relevant SKILL.md, follows the workflow, then edits or analyzes local artifacts.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1B7B4-F0A2-4A1C-BD16-9287221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47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E4526-781B-44EF-8E61-932ED4BE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More consistent behavior, clearer provenance, and less one-off prompting for recurring modeling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A3193-1627-4E8C-92F7-8E1C1B02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Standard folder pattern: SKILL.md + scripts/ + assets/ + references/</a:t>
            </a:r>
          </a:p>
        </p:txBody>
      </p:sp>
    </p:spTree>
    <p:extLst>
      <p:ext uri="{BB962C8B-B14F-4D97-AF65-F5344CB8AC3E}">
        <p14:creationId xmlns:p14="http://schemas.microsoft.com/office/powerpoint/2010/main" val="1382588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E8D00-9451-48CA-8AB8-FA7A595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AI-ESM SKILL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40E31-E1FB-4394-A1CA-F952C589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skill library covers the full optimization iteration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80659-25E1-4813-90F1-DDFD8F9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Each skill owns one capability but passes structured diagnostics to the next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A3F61-57AE-43BB-8B39-BF359641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499E1-DF82-4538-9290-E72205E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D49F-A65E-4EF8-863F-0AF27371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92302-FCBD-47D6-844A-D8B8985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5D6B73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code_generator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/ configs / HPC glue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4419C-6A56-4764-951A-A346FBEF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scenario_builder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goals -&gt; solver-ready 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C6C38-DB4B-4955-8394-25BEDDB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supervisory_controller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routing + budgets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A0831-FE07-437B-8DB2-839C68F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model_executor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model / collect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4340E-C18C-4AF9-8298-59765C58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solver_log_analyzer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infeasibility + convergence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436CE-241E-4E68-9B4F-3EA29820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8A21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output_analysis_agent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physics + economics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DFEBF-1C20-4505-A08A-B011DA28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84A3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refiner_agent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targeted fixes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1F4C8-42EB-411A-A2B9-DCFE7510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29C8B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iteration_memory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history + failure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A91F1-8541-4D52-9422-CD39237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Structured handoffs keep the loop auditable: config -&gt; run -&gt; diagnostics -&gt; recommendation -&gt; patch/memory.</a:t>
            </a:r>
          </a:p>
        </p:txBody>
      </p:sp>
    </p:spTree>
    <p:extLst>
      <p:ext uri="{BB962C8B-B14F-4D97-AF65-F5344CB8AC3E}">
        <p14:creationId xmlns:p14="http://schemas.microsoft.com/office/powerpoint/2010/main" val="197411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6BF52-9C45-4C14-8DD5-ECAFCA2D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CODEX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8B7AB-45E3-4FA6-86A1-3BCE953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A researcher can drive the workflow through natural-language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F56AF-729C-40F7-8909-BF92575C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useful demo is not a chatbot answer; it is Codex selecting skills and producing/verifying concrete artifacts.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246B3-BA0B-4C5E-9BB2-AB9F84B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41A87-8BAB-43E2-98D0-2921793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55BC3-BED5-43C8-A79B-B986D56F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8F202-7600-4A34-8308-B6B9430F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352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EF85F-5AC7-4C0B-83D8-F34D964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Run or refine a capacity expansion scenario.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108A9-CBA7-40EE-8634-D9DCC132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352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Select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C5739-D91A-4AA0-A028-BA9A8E8C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Codex loads the relevant skill instructions.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55007-DD60-4C63-A268-4E2680A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352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Act on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550D3-C093-4B0C-BEB0-2B29B59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Validate config, run model, parse logs, inspect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520C1-39C1-4E89-951E-A58093BE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352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B9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Decide next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E91C5-5E99-4BA2-8E29-D865201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Stop, recommend fix, or safely patch solver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DCD2A-CFBB-4D86-9D4F-A748C15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476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Example command</a:t>
            </a:r>
          </a:p>
          <a:p xmlns:a="http://schemas.openxmlformats.org/drawingml/2006/main">
            <a:pPr algn="l">
              <a:defRPr sz="120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-m agent.orchestrator run --config test\\capacity_expansion_test_1\\test_scenario_1_output.yaml --run-id demo_run --max-iterations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DCCD5-D025-4535-A4E2-159FED2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Expected artifacts</a:t>
            </a:r>
          </a:p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runs/&lt;run_id&gt;/run_state.json</a:t>
            </a:r>
          </a:p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runs/run_history.jsonl</a:t>
            </a:r>
          </a:p>
          <a:p xmlns:a="http://schemas.openxmlformats.org/drawingml/2006/main">
            <a:pPr algn="l">
              <a:defRPr sz="127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iteration configs when reruns occur</a:t>
            </a:r>
          </a:p>
        </p:txBody>
      </p:sp>
    </p:spTree>
    <p:extLst>
      <p:ext uri="{BB962C8B-B14F-4D97-AF65-F5344CB8AC3E}">
        <p14:creationId xmlns:p14="http://schemas.microsoft.com/office/powerpoint/2010/main" val="2054580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15B4C-A52B-4078-A610-F4ABF2EF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APP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00704-AD1A-48F9-BE84-8C523E4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executable app is small enough to inspect but structured around durable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7C583-F107-4C6C-9227-7DD3412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current codebase is an orchestration layer around existing model runners, not a monolithic modeling rewrite.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A60F-4E07-4239-A150-06C6705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D703A-2524-4567-A95B-362D7C48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92EE1-94E5-4F66-8DB1-3861C6B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CF474-6BC7-467C-8D70-843F387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agent/orchestrator.py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631B9-2F77-402F-93B5-CDC6AAD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81200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CLI entrypoint, controller decisions, subprocess execution, iteration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3A13F-5598-4A5B-900E-0764E8A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agent/validation.py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450D4-2BD0-4A1F-946C-B8A605A4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05075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Pre-solve scenario validation and path/schema normalization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3BE4C-45D2-4AAC-A09C-27D327A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agent/solver_log_analysis.py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78D56-BE74-4593-8FFA-96F36C0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Solver log parser and fallback diagnostics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18F6F-A326-4905-B44E-FB285FF0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agent/output_analysis.py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D452-D804-48B4-9174-0F053A3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52825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Physical and economic plausibility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1F5DA-721C-4B98-BE9B-054BE72F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agent/refiner.py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4F0D8-0BF7-4CE6-B3FB-F26F959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76700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Recommendation-only diagnostic-to-fix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AD124-39F1-422C-A2E8-ACFBC21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agent/scenario_patching.py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CFFA7-90EC-4CD9-BD85-7443EFC9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00575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Safe solver-setting patch creation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CB6E1-17EC-4781-AE3F-50CB649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agent/iteration_memory.py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36269-FA0D-488C-93AD-5A1144E9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24450"/>
            <a:ext cx="685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Append-only run history and summaries</a:t>
            </a:r>
          </a:p>
        </p:txBody>
      </p:sp>
    </p:spTree>
    <p:extLst>
      <p:ext uri="{BB962C8B-B14F-4D97-AF65-F5344CB8AC3E}">
        <p14:creationId xmlns:p14="http://schemas.microsoft.com/office/powerpoint/2010/main" val="8512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70E94-3BDA-4B72-9131-38C0857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HOW TO USE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32299-D97F-42FF-8226-DFE4945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Researchers interact through scenarios, runs, and history rather than hidden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039A8-4653-42E9-87AA-8A95A94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working interface is command-line today, with clear artifacts for review and future UI integration.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2EF8D-AF4E-4655-9764-22C7DFC3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DE9DA-521C-42EA-9FCD-E66C265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F8B3E-0E99-4318-B6CC-BAE5575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D86D1-2177-4798-A4D3-50933C95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Smoke run</a:t>
            </a:r>
          </a:p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-m agent.orchestrator run --config test\capacity_expansion_test_1\test_scenario_1_output.yaml --run-id orchestration_smoke_test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8C11-326C-4339-97B7-79C39EB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953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5B9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Controlled rerun</a:t>
            </a:r>
          </a:p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-m agent.orchestrator run --config test\capacity_expansion_test_1\test_scenario_1_output.yaml --run-id controlled_rerun_smoke --max-iterations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6AC64-DA7D-4CA6-817D-D3F7190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A21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History</a:t>
            </a:r>
          </a:p>
          <a:p xmlns:a="http://schemas.openxmlformats.org/drawingml/2006/main">
            <a:pPr algn="l">
              <a:defRPr sz="1350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-m agent.orchestrator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E4872-A325-456D-9385-6AC4EC7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FC5DB-9EC7-433B-911C-C998A16B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Review run_state.json for decisions, diagnostics, final summary, patch outcomes, and memory summary.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49891-2EB7-4E21-972B-14D2555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9A"/>
          </a:solidFill>
          <a:ln xmlns:a="http://schemas.openxmlformats.org/drawingml/2006/main" w="0">
            <a:solidFill>
              <a:srgbClr val="2D5B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22227-5ACD-4524-A01B-D803BC6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Treat structural scenario changes as recommendations until approval workflow is expanded.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D57A5-6888-40EF-B358-A5ACC6D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21B"/>
          </a:solidFill>
          <a:ln xmlns:a="http://schemas.openxmlformats.org/drawingml/2006/main" w="0">
            <a:solidFill>
              <a:srgbClr val="D8A2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A4582-8204-4E87-8AF0-34D2EB8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Use the existing smoke scenario as the lowest-friction demo path.</a:t>
            </a:r>
          </a:p>
        </p:txBody>
      </p:sp>
    </p:spTree>
    <p:extLst>
      <p:ext uri="{BB962C8B-B14F-4D97-AF65-F5344CB8AC3E}">
        <p14:creationId xmlns:p14="http://schemas.microsoft.com/office/powerpoint/2010/main" val="373511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1E6BA-60AB-4BAE-819A-9F3336D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CURRENT SMOKE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D8C32-3B65-4528-86FB-D8DCE0D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latest documented smoke scenario completes and passes core physical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50241-D627-4707-932F-B0A0A347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This gives the presentation a concrete demo anchor while keeping limitations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8BAFC-F358-42D3-BBD5-F608061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56FE-086C-4C35-93E4-BCD5A2B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7DDD0-DC0F-4334-BC32-42E2897A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DCE08-0F4D-4EC9-98B2-02EED9E6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EDDA4-E6B9-4043-BACF-13693DE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E511D-7927-4949-8130-1C50606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Solver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17D76-3DB8-44A0-9DE7-B0DC81D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OPTIMAL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D7F45-5C6F-4A13-B459-F6B47CB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28507-91B9-461E-9850-0CE281DC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990,873,978.80 USD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C794-D42F-444D-8C1B-FF96F67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Max imbalance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F3AEA-71CF-464D-9FB5-8EA34ED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0.0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B523C-106E-4C38-A118-FE9FC95D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Capacity violation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76862-4601-44E5-9EAF-856CB60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0.0 MWh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B17CB-4E3C-4295-A160-4ECAE81E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285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NSE fraction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61937-FEAA-4AC3-A499-08017BA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0.0028%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67D75-1BC9-4502-86B6-F8F01F1A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Refiner recommendation: STOP / NO FIX. Increasing max iterations does not trigger a rerun for this scenario, which is expected behavior.</a:t>
            </a:r>
          </a:p>
        </p:txBody>
      </p:sp>
    </p:spTree>
    <p:extLst>
      <p:ext uri="{BB962C8B-B14F-4D97-AF65-F5344CB8AC3E}">
        <p14:creationId xmlns:p14="http://schemas.microsoft.com/office/powerpoint/2010/main" val="435836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225F6-79B3-4473-819A-F91BA864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6B5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6B5A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C848A-4403-4A4D-8722-AF7F226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914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next phase is about trust, scope expansion, and researcher ergonomics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FDCCD-2F9B-4E52-884B-8975EF6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The MVP proves a repeatable loop; the research work is deciding how far automation should go and where humans approve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F593A-B64B-4818-B5DC-BF69ED5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AI-ESM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39CAF-B049-486F-8449-406F5CEC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D6B73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D6B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A92A3-DA7A-4CEF-9F1D-C905F98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838D4-47D3-4311-9756-35CA60C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84A3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C88C5-36B3-4947-92B6-2A1AC07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3EEF6-7317-43EE-ABD1-E32BEE82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Skill quality and validation coverage determine agent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770CE-D8E1-4A79-BFC0-BB220EB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6F4B9-7D95-4F6C-906D-EC55937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Structural edits and policy relaxations are still recommendation-only.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DF166-69A4-480C-AE7E-6A342367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340A1-8C66-48B2-B6E0-FFEF959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Solver/model failures can require expert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04C1E-66A4-48D9-9F2A-509428F6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3A"/>
          </a:solidFill>
          <a:ln xmlns:a="http://schemas.openxmlformats.org/drawingml/2006/main" w="0">
            <a:solidFill>
              <a:srgbClr val="B8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EE9D0-9A1D-4B1F-B658-2A118B58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Artifact provenance must stay disciplined for reproducibility.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0FF7D-BE7D-4A62-8A10-6A1C954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457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6B5A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4E6A6-0A6B-4B31-A365-1DCB6D5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DC576-8846-43C3-B4CF-69E27C9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14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UI layer around scenarios, runs, diagnostics, and approvals.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72DFF-7FB9-4B6B-ABAF-260412DC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FE774-47DA-4E99-AEB4-CFA3D02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Expanded tests for analyzers, patching, and memory behavior.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181CF-4E28-4E11-B286-7B73D6B3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8EAD1-1805-4FC7-B807-BEA9E87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Richer benchmark scenarios beyond the current capacity expansion smoke case.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EE336-97E4-487C-863C-4FD9EC6D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5A"/>
          </a:solidFill>
          <a:ln xmlns:a="http://schemas.openxmlformats.org/drawingml/2006/main" w="0">
            <a:solidFill>
              <a:srgbClr val="176B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A4E72-1B8D-4EB5-8685-506BC96B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Stronger provenance for every recommendation and model change.</a:t>
            </a:r>
          </a:p>
        </p:txBody>
      </p:sp>
    </p:spTree>
    <p:extLst>
      <p:ext uri="{BB962C8B-B14F-4D97-AF65-F5344CB8AC3E}">
        <p14:creationId xmlns:p14="http://schemas.microsoft.com/office/powerpoint/2010/main" val="1333125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2026-06-15T23:14:22.8640000Z</dcterms:created>
  <dcterms:modified xsi:type="dcterms:W3CDTF">2026-06-15T23:14:22.8640000Z</dcterms:modified>
</coreProperties>
</file>